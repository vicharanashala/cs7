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488" y="-6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1800" b="1" dirty="0">
                <a:solidFill>
                  <a:schemeClr val="tx1"/>
                </a:solidFill>
                <a:latin typeface="Calibri"/>
              </a:rPr>
              <a:t>Student —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1"/>
                </a:solidFill>
                <a:latin typeface="Calibri"/>
              </a:rPr>
              <a:t>Samagama Portal  ·  Student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18304" y="1005840"/>
            <a:ext cx="1828800" cy="438912"/>
          </a:xfrm>
          <a:prstGeom prst="roundRect">
            <a:avLst>
              <a:gd name="adj" fmla="val 18000"/>
            </a:avLst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0C447C"/>
                </a:solidFill>
                <a:latin typeface="Calibri"/>
              </a:rPr>
              <a:t>Student logs 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32704" y="1444752"/>
            <a:ext cx="0" cy="2011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718304" y="1645920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E6F1FB"/>
          </a:solidFill>
          <a:ln w="127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0C447C"/>
                </a:solidFill>
                <a:latin typeface="Calibri"/>
              </a:rPr>
              <a:t>Dashboard /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15673" y="2154122"/>
            <a:ext cx="9791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444441"/>
                </a:solidFill>
                <a:latin typeface="Calibri"/>
              </a:rPr>
              <a:t>chooses action ▾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2311563" y="2463571"/>
            <a:ext cx="7589520" cy="12700"/>
          </a:xfrm>
          <a:prstGeom prst="curvedConnector3">
            <a:avLst>
              <a:gd name="adj1" fmla="val 50000"/>
            </a:avLst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</p:cNvCxnSpPr>
          <p:nvPr/>
        </p:nvCxnSpPr>
        <p:spPr>
          <a:xfrm>
            <a:off x="2311563" y="2787446"/>
            <a:ext cx="0" cy="100584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397163" y="2888030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E6F1FB"/>
          </a:solidFill>
          <a:ln w="127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0C447C"/>
                </a:solidFill>
                <a:latin typeface="Calibri"/>
              </a:rPr>
              <a:t>Browse FAQ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3163" y="2888030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E6F1FB"/>
          </a:solidFill>
          <a:ln w="127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0C447C"/>
                </a:solidFill>
                <a:latin typeface="Calibri"/>
              </a:rPr>
              <a:t>Community Q&amp;A</a:t>
            </a:r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>
            <a:off x="6883563" y="2787446"/>
            <a:ext cx="0" cy="100584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969163" y="2888030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E6F1FB"/>
          </a:solidFill>
          <a:ln w="127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 dirty="0">
                <a:solidFill>
                  <a:srgbClr val="0C447C"/>
                </a:solidFill>
                <a:latin typeface="Calibri"/>
              </a:rPr>
              <a:t>Ask a question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901083" y="2787446"/>
            <a:ext cx="0" cy="100584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986683" y="2888030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E6F1FB"/>
          </a:solidFill>
          <a:ln w="127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0C447C"/>
                </a:solidFill>
                <a:latin typeface="Calibri"/>
              </a:rPr>
              <a:t>AI chatbot</a:t>
            </a:r>
          </a:p>
        </p:txBody>
      </p:sp>
      <p:cxnSp>
        <p:nvCxnSpPr>
          <p:cNvPr id="17" name="Connector 16"/>
          <p:cNvCxnSpPr>
            <a:cxnSpLocks/>
            <a:endCxn id="18" idx="0"/>
          </p:cNvCxnSpPr>
          <p:nvPr/>
        </p:nvCxnSpPr>
        <p:spPr>
          <a:xfrm rot="5400000">
            <a:off x="2109519" y="3535336"/>
            <a:ext cx="410440" cy="6351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397163" y="3743731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View answers</a:t>
            </a:r>
          </a:p>
        </p:txBody>
      </p:sp>
      <p:cxnSp>
        <p:nvCxnSpPr>
          <p:cNvPr id="19" name="Connector 18"/>
          <p:cNvCxnSpPr>
            <a:cxnSpLocks/>
            <a:endCxn id="20" idx="0"/>
          </p:cNvCxnSpPr>
          <p:nvPr/>
        </p:nvCxnSpPr>
        <p:spPr>
          <a:xfrm rot="5400000">
            <a:off x="4395519" y="3535336"/>
            <a:ext cx="410440" cy="6351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683163" y="3743731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Post / answer</a:t>
            </a:r>
          </a:p>
        </p:txBody>
      </p:sp>
      <p:cxnSp>
        <p:nvCxnSpPr>
          <p:cNvPr id="21" name="Connector 20"/>
          <p:cNvCxnSpPr>
            <a:cxnSpLocks/>
            <a:endCxn id="22" idx="0"/>
          </p:cNvCxnSpPr>
          <p:nvPr/>
        </p:nvCxnSpPr>
        <p:spPr>
          <a:xfrm rot="5400000">
            <a:off x="6681519" y="3535336"/>
            <a:ext cx="410440" cy="6351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969163" y="3743731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Similarity check</a:t>
            </a:r>
          </a:p>
        </p:txBody>
      </p:sp>
      <p:cxnSp>
        <p:nvCxnSpPr>
          <p:cNvPr id="23" name="Connector 22"/>
          <p:cNvCxnSpPr>
            <a:cxnSpLocks/>
            <a:endCxn id="24" idx="0"/>
          </p:cNvCxnSpPr>
          <p:nvPr/>
        </p:nvCxnSpPr>
        <p:spPr>
          <a:xfrm rot="5400000">
            <a:off x="9699039" y="3535336"/>
            <a:ext cx="410440" cy="6351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986683" y="3743731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Get response</a:t>
            </a:r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 rot="16200000" flipH="1">
            <a:off x="6708432" y="4357774"/>
            <a:ext cx="356615" cy="6352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12063" y="4189500"/>
            <a:ext cx="731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444441"/>
                </a:solidFill>
                <a:latin typeface="Calibri"/>
              </a:rPr>
              <a:t>match found?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5832003" y="4539258"/>
            <a:ext cx="1051560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83563" y="4539258"/>
            <a:ext cx="1188720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32003" y="4539258"/>
            <a:ext cx="0" cy="100585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72283" y="4539258"/>
            <a:ext cx="0" cy="100585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917603" y="4374667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085041"/>
                </a:solidFill>
                <a:latin typeface="Calibri"/>
              </a:rPr>
              <a:t>yes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3642" y="4374667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791F1F"/>
                </a:solidFill>
                <a:latin typeface="Calibri"/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17603" y="4639843"/>
            <a:ext cx="1828800" cy="438912"/>
          </a:xfrm>
          <a:prstGeom prst="roundRect">
            <a:avLst>
              <a:gd name="adj" fmla="val 18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085041"/>
                </a:solidFill>
                <a:latin typeface="Calibri"/>
              </a:rPr>
              <a:t>Show suggestion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7883" y="4639843"/>
            <a:ext cx="1828800" cy="438912"/>
          </a:xfrm>
          <a:prstGeom prst="roundRect">
            <a:avLst>
              <a:gd name="adj" fmla="val 18000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085041"/>
                </a:solidFill>
                <a:latin typeface="Calibri"/>
              </a:rPr>
              <a:t>Submit question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9042" y="5106187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44441"/>
                </a:solidFill>
                <a:latin typeface="Calibri"/>
              </a:rPr>
              <a:t>accept/skip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32003" y="5078755"/>
            <a:ext cx="0" cy="100584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072283" y="5078755"/>
            <a:ext cx="0" cy="100584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832003" y="5179339"/>
            <a:ext cx="2240280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cxnSpLocks/>
            <a:endCxn id="40" idx="0"/>
          </p:cNvCxnSpPr>
          <p:nvPr/>
        </p:nvCxnSpPr>
        <p:spPr>
          <a:xfrm rot="5400000">
            <a:off x="6748625" y="5320627"/>
            <a:ext cx="276228" cy="6351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694843" y="5461916"/>
            <a:ext cx="2377440" cy="438912"/>
          </a:xfrm>
          <a:prstGeom prst="roundRect">
            <a:avLst>
              <a:gd name="adj" fmla="val 18000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085041"/>
                </a:solidFill>
                <a:latin typeface="Calibri"/>
              </a:rPr>
              <a:t>Awaits moderation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61002" y="4959883"/>
            <a:ext cx="2743200" cy="438912"/>
          </a:xfrm>
          <a:prstGeom prst="roundRect">
            <a:avLst>
              <a:gd name="adj" fmla="val 18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 dirty="0">
                <a:solidFill>
                  <a:srgbClr val="0C447C"/>
                </a:solidFill>
                <a:latin typeface="Calibri"/>
              </a:rPr>
              <a:t>Like / dislike chatbot response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00667" y="5582364"/>
            <a:ext cx="2743200" cy="438912"/>
          </a:xfrm>
          <a:prstGeom prst="roundRect">
            <a:avLst>
              <a:gd name="adj" fmla="val 18000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 dirty="0">
                <a:solidFill>
                  <a:srgbClr val="0C447C"/>
                </a:solidFill>
                <a:latin typeface="Calibri"/>
              </a:rPr>
              <a:t>View leaderboard &amp; SP points</a:t>
            </a:r>
          </a:p>
        </p:txBody>
      </p: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E4859424-FA26-1524-4442-2B7103306ED8}"/>
              </a:ext>
            </a:extLst>
          </p:cNvPr>
          <p:cNvCxnSpPr>
            <a:stCxn id="20" idx="2"/>
            <a:endCxn id="42" idx="0"/>
          </p:cNvCxnSpPr>
          <p:nvPr/>
        </p:nvCxnSpPr>
        <p:spPr>
          <a:xfrm rot="5400000">
            <a:off x="3285055" y="4269855"/>
            <a:ext cx="1399721" cy="1225296"/>
          </a:xfrm>
          <a:prstGeom prst="curvedConnector3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0351D246-C1C4-0449-62A0-B2E4FA61D16E}"/>
              </a:ext>
            </a:extLst>
          </p:cNvPr>
          <p:cNvCxnSpPr>
            <a:stCxn id="24" idx="2"/>
            <a:endCxn id="41" idx="0"/>
          </p:cNvCxnSpPr>
          <p:nvPr/>
        </p:nvCxnSpPr>
        <p:spPr>
          <a:xfrm rot="16200000" flipH="1">
            <a:off x="9878222" y="4205503"/>
            <a:ext cx="777240" cy="731519"/>
          </a:xfrm>
          <a:prstGeom prst="curvedConnector3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4F5BF64-8EB8-5679-0A62-E0E79FDBE352}"/>
              </a:ext>
            </a:extLst>
          </p:cNvPr>
          <p:cNvCxnSpPr>
            <a:cxnSpLocks/>
          </p:cNvCxnSpPr>
          <p:nvPr/>
        </p:nvCxnSpPr>
        <p:spPr>
          <a:xfrm>
            <a:off x="5645485" y="2084832"/>
            <a:ext cx="0" cy="407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CF842E0-2A4C-7239-CBCF-67185A3E1B7B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4597563" y="2459736"/>
            <a:ext cx="0" cy="428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3FE0FB3-959C-2BC4-56CE-17E64459DB38}"/>
              </a:ext>
            </a:extLst>
          </p:cNvPr>
          <p:cNvCxnSpPr>
            <a:cxnSpLocks/>
          </p:cNvCxnSpPr>
          <p:nvPr/>
        </p:nvCxnSpPr>
        <p:spPr>
          <a:xfrm>
            <a:off x="6886266" y="2459736"/>
            <a:ext cx="0" cy="428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449E7D9-9345-1DDF-3496-56ECC109DBEE}"/>
              </a:ext>
            </a:extLst>
          </p:cNvPr>
          <p:cNvCxnSpPr>
            <a:cxnSpLocks/>
          </p:cNvCxnSpPr>
          <p:nvPr/>
        </p:nvCxnSpPr>
        <p:spPr>
          <a:xfrm>
            <a:off x="9907435" y="2459736"/>
            <a:ext cx="0" cy="428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6532C6A-D1CD-47DA-4844-519434A54D8D}"/>
              </a:ext>
            </a:extLst>
          </p:cNvPr>
          <p:cNvCxnSpPr>
            <a:endCxn id="10" idx="0"/>
          </p:cNvCxnSpPr>
          <p:nvPr/>
        </p:nvCxnSpPr>
        <p:spPr>
          <a:xfrm flipH="1">
            <a:off x="2311563" y="2463571"/>
            <a:ext cx="6352" cy="424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1800" b="1" dirty="0">
                <a:solidFill>
                  <a:schemeClr val="tx1"/>
                </a:solidFill>
                <a:latin typeface="Calibri"/>
              </a:rPr>
              <a:t>Moderator —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1"/>
                </a:solidFill>
                <a:latin typeface="Calibri"/>
              </a:rPr>
              <a:t>Samagama Portal  ·  Moderator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75504" y="1005840"/>
            <a:ext cx="1828800" cy="438912"/>
          </a:xfrm>
          <a:prstGeom prst="roundRect">
            <a:avLst>
              <a:gd name="adj" fmla="val 1800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 dirty="0">
                <a:solidFill>
                  <a:schemeClr val="accent4">
                    <a:lumMod val="50000"/>
                  </a:schemeClr>
                </a:solidFill>
                <a:latin typeface="Calibri"/>
              </a:rPr>
              <a:t>Moderator logs 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444752"/>
            <a:ext cx="0" cy="2011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175504" y="1645920"/>
            <a:ext cx="1828800" cy="438912"/>
          </a:xfrm>
          <a:prstGeom prst="roundRect">
            <a:avLst>
              <a:gd name="adj" fmla="val 1800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 dirty="0">
                <a:solidFill>
                  <a:schemeClr val="accent4">
                    <a:lumMod val="50000"/>
                  </a:schemeClr>
                </a:solidFill>
                <a:latin typeface="Calibri"/>
              </a:rPr>
              <a:t>Moderator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1344" y="2094966"/>
            <a:ext cx="8341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444441"/>
                </a:solidFill>
                <a:latin typeface="Calibri"/>
              </a:rPr>
              <a:t>chooses task ▾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3600966" y="2320544"/>
            <a:ext cx="5177274" cy="1270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00966" y="2432304"/>
            <a:ext cx="0" cy="100584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2432304"/>
            <a:ext cx="0" cy="100584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503686" y="2532888"/>
            <a:ext cx="2194560" cy="438912"/>
          </a:xfrm>
          <a:prstGeom prst="roundRect">
            <a:avLst>
              <a:gd name="adj" fmla="val 1800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 dirty="0">
                <a:solidFill>
                  <a:schemeClr val="accent4">
                    <a:lumMod val="50000"/>
                  </a:schemeClr>
                </a:solidFill>
                <a:latin typeface="Calibri"/>
              </a:rPr>
              <a:t>FAQ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532888"/>
            <a:ext cx="2194560" cy="438912"/>
          </a:xfrm>
          <a:prstGeom prst="roundRect">
            <a:avLst>
              <a:gd name="adj" fmla="val 1800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 dirty="0">
                <a:solidFill>
                  <a:schemeClr val="accent4">
                    <a:lumMod val="50000"/>
                  </a:schemeClr>
                </a:solidFill>
                <a:latin typeface="Calibri"/>
              </a:rPr>
              <a:t>Community Q&amp;A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2244" y="3072384"/>
            <a:ext cx="88124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444441"/>
                </a:solidFill>
                <a:latin typeface="Calibri"/>
              </a:rPr>
              <a:t>action on FAQ ▾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01933" y="3348532"/>
            <a:ext cx="2798064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01933" y="3348532"/>
            <a:ext cx="0" cy="804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584713" y="3429000"/>
            <a:ext cx="1234440" cy="438912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Edit answer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00966" y="3348532"/>
            <a:ext cx="0" cy="804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983745" y="3429000"/>
            <a:ext cx="1234440" cy="438912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Handle flagged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99997" y="3348532"/>
            <a:ext cx="0" cy="804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382777" y="3429000"/>
            <a:ext cx="1234440" cy="438912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View stats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01933" y="4124249"/>
            <a:ext cx="2798064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229365" y="4367810"/>
            <a:ext cx="2743200" cy="438912"/>
          </a:xfrm>
          <a:prstGeom prst="roundRect">
            <a:avLst>
              <a:gd name="adj" fmla="val 18000"/>
            </a:avLst>
          </a:prstGeom>
          <a:solidFill>
            <a:srgbClr val="E1F5EE"/>
          </a:solidFill>
          <a:ln w="1270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085041"/>
                </a:solidFill>
                <a:latin typeface="Calibri"/>
              </a:rPr>
              <a:t>FAQ DB updated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1026" y="2929738"/>
            <a:ext cx="5772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444441"/>
                </a:solidFill>
                <a:latin typeface="Calibri"/>
              </a:rPr>
              <a:t>review question ▾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26680" y="3328415"/>
            <a:ext cx="1828800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26680" y="3328415"/>
            <a:ext cx="0" cy="804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555480" y="3328415"/>
            <a:ext cx="0" cy="804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95160" y="3145535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27500A"/>
                </a:solidFill>
                <a:latin typeface="Calibri"/>
              </a:rPr>
              <a:t>approve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145535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791F1F"/>
                </a:solidFill>
                <a:latin typeface="Calibri"/>
              </a:rPr>
              <a:t>reject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3408883"/>
            <a:ext cx="1645920" cy="438912"/>
          </a:xfrm>
          <a:prstGeom prst="roundRect">
            <a:avLst>
              <a:gd name="adj" fmla="val 18000"/>
            </a:avLst>
          </a:prstGeom>
          <a:solidFill>
            <a:srgbClr val="EAF3DE"/>
          </a:solidFill>
          <a:ln w="1270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27500A"/>
                </a:solidFill>
                <a:latin typeface="Calibri"/>
              </a:rPr>
              <a:t>Publish to feed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32520" y="3408883"/>
            <a:ext cx="1645920" cy="438912"/>
          </a:xfrm>
          <a:prstGeom prst="roundRect">
            <a:avLst>
              <a:gd name="adj" fmla="val 18000"/>
            </a:avLst>
          </a:prstGeom>
          <a:solidFill>
            <a:srgbClr val="FCEBEB"/>
          </a:solidFill>
          <a:ln w="12700">
            <a:solidFill>
              <a:srgbClr val="A3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791F1F"/>
                </a:solidFill>
                <a:latin typeface="Calibri"/>
              </a:rPr>
              <a:t>Reject &amp; notify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26680" y="3847795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555480" y="3847795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726680" y="3928262"/>
            <a:ext cx="1828800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78240" y="3928262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589520" y="4008729"/>
            <a:ext cx="2377440" cy="438912"/>
          </a:xfrm>
          <a:prstGeom prst="roundRect">
            <a:avLst>
              <a:gd name="adj" fmla="val 18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Student notified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0FFEE84-FBA5-B86B-E5EE-B544D267F9A4}"/>
              </a:ext>
            </a:extLst>
          </p:cNvPr>
          <p:cNvCxnSpPr>
            <a:stCxn id="6" idx="2"/>
          </p:cNvCxnSpPr>
          <p:nvPr/>
        </p:nvCxnSpPr>
        <p:spPr>
          <a:xfrm>
            <a:off x="6089904" y="2084832"/>
            <a:ext cx="0" cy="23571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1F633F9-A7F8-3A24-9677-B0146BA0B4B2}"/>
              </a:ext>
            </a:extLst>
          </p:cNvPr>
          <p:cNvCxnSpPr/>
          <p:nvPr/>
        </p:nvCxnSpPr>
        <p:spPr>
          <a:xfrm>
            <a:off x="3600966" y="2320544"/>
            <a:ext cx="0" cy="23571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DF2D710-64B0-DD62-9A10-7E109390128C}"/>
              </a:ext>
            </a:extLst>
          </p:cNvPr>
          <p:cNvCxnSpPr/>
          <p:nvPr/>
        </p:nvCxnSpPr>
        <p:spPr>
          <a:xfrm>
            <a:off x="8778240" y="2310410"/>
            <a:ext cx="0" cy="23571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B13C50D-4BB3-C051-5856-43CDDE76B6D1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8778240" y="2971800"/>
            <a:ext cx="12192" cy="374903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B212EE3-C103-DC40-C137-4DD9ED6098E2}"/>
              </a:ext>
            </a:extLst>
          </p:cNvPr>
          <p:cNvCxnSpPr>
            <a:cxnSpLocks/>
          </p:cNvCxnSpPr>
          <p:nvPr/>
        </p:nvCxnSpPr>
        <p:spPr>
          <a:xfrm>
            <a:off x="3588774" y="2962655"/>
            <a:ext cx="12192" cy="374903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BDDF02D-2298-43A6-8A98-8C469ECAF840}"/>
              </a:ext>
            </a:extLst>
          </p:cNvPr>
          <p:cNvCxnSpPr>
            <a:stCxn id="21" idx="2"/>
          </p:cNvCxnSpPr>
          <p:nvPr/>
        </p:nvCxnSpPr>
        <p:spPr>
          <a:xfrm>
            <a:off x="4999997" y="3867912"/>
            <a:ext cx="0" cy="25633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EC7E9CA-0CE5-2389-F151-9BCDC207E349}"/>
              </a:ext>
            </a:extLst>
          </p:cNvPr>
          <p:cNvCxnSpPr/>
          <p:nvPr/>
        </p:nvCxnSpPr>
        <p:spPr>
          <a:xfrm>
            <a:off x="2201933" y="3867912"/>
            <a:ext cx="0" cy="25633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653AE9C-875B-367A-094C-F99E5B07BB9F}"/>
              </a:ext>
            </a:extLst>
          </p:cNvPr>
          <p:cNvCxnSpPr>
            <a:stCxn id="19" idx="2"/>
            <a:endCxn id="24" idx="0"/>
          </p:cNvCxnSpPr>
          <p:nvPr/>
        </p:nvCxnSpPr>
        <p:spPr>
          <a:xfrm>
            <a:off x="3600965" y="3867912"/>
            <a:ext cx="0" cy="499898"/>
          </a:xfrm>
          <a:prstGeom prst="straightConnector1">
            <a:avLst/>
          </a:prstGeom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1800" b="1" dirty="0">
                <a:solidFill>
                  <a:schemeClr val="tx1"/>
                </a:solidFill>
                <a:latin typeface="Calibri"/>
              </a:rPr>
              <a:t>Admin —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1"/>
                </a:solidFill>
                <a:latin typeface="Calibri"/>
              </a:rPr>
              <a:t>Samagama Portal  ·  Admin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75504" y="1005840"/>
            <a:ext cx="1828800" cy="438912"/>
          </a:xfrm>
          <a:prstGeom prst="roundRect">
            <a:avLst>
              <a:gd name="adj" fmla="val 1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3C3489"/>
                </a:solidFill>
                <a:latin typeface="Calibri"/>
              </a:rPr>
              <a:t>Admin logs 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444752"/>
            <a:ext cx="0" cy="201168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992624" y="1645920"/>
            <a:ext cx="2194560" cy="438912"/>
          </a:xfrm>
          <a:prstGeom prst="roundRect">
            <a:avLst>
              <a:gd name="adj" fmla="val 1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3C3489"/>
                </a:solidFill>
                <a:latin typeface="Calibri"/>
              </a:rPr>
              <a:t>Admin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39696"/>
            <a:ext cx="29984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444441"/>
                </a:solidFill>
                <a:latin typeface="Calibri"/>
              </a:rPr>
              <a:t>chooses module ▾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12264" y="2515895"/>
            <a:ext cx="7955280" cy="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106424" y="2824962"/>
            <a:ext cx="2011680" cy="438912"/>
          </a:xfrm>
          <a:prstGeom prst="roundRect">
            <a:avLst>
              <a:gd name="adj" fmla="val 1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3C3489"/>
                </a:solidFill>
                <a:latin typeface="Calibri"/>
              </a:rPr>
              <a:t>User management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64024" y="2744495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758184" y="2824962"/>
            <a:ext cx="2011680" cy="438912"/>
          </a:xfrm>
          <a:prstGeom prst="roundRect">
            <a:avLst>
              <a:gd name="adj" fmla="val 1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3C3489"/>
                </a:solidFill>
                <a:latin typeface="Calibri"/>
              </a:rPr>
              <a:t>Analytics dashboard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15783" y="2744495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409944" y="2824962"/>
            <a:ext cx="2011680" cy="438912"/>
          </a:xfrm>
          <a:prstGeom prst="roundRect">
            <a:avLst>
              <a:gd name="adj" fmla="val 1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3C3489"/>
                </a:solidFill>
                <a:latin typeface="Calibri"/>
              </a:rPr>
              <a:t>Full FAQ control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67544" y="2744495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061704" y="2824962"/>
            <a:ext cx="2011680" cy="438912"/>
          </a:xfrm>
          <a:prstGeom prst="roundRect">
            <a:avLst>
              <a:gd name="adj" fmla="val 1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3C3489"/>
                </a:solidFill>
                <a:latin typeface="Calibri"/>
              </a:rPr>
              <a:t>System config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25980" y="3476778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20140" y="3557245"/>
            <a:ext cx="2011680" cy="526694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Add / remove users</a:t>
            </a:r>
          </a:p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Assign T-Mod role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77740" y="3476778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771900" y="3557245"/>
            <a:ext cx="2011680" cy="526694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View analytics</a:t>
            </a:r>
          </a:p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Export report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29499" y="3476778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23660" y="3557245"/>
            <a:ext cx="2011680" cy="526694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Override mod actions</a:t>
            </a:r>
          </a:p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Approve / revert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81260" y="3476778"/>
            <a:ext cx="0" cy="80467"/>
          </a:xfrm>
          <a:prstGeom prst="curvedConnector3">
            <a:avLst/>
          </a:prstGeom>
          <a:ln w="15240">
            <a:solidFill>
              <a:srgbClr val="88878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075420" y="3557245"/>
            <a:ext cx="2011680" cy="526694"/>
          </a:xfrm>
          <a:prstGeom prst="roundRect">
            <a:avLst>
              <a:gd name="adj" fmla="val 18000"/>
            </a:avLst>
          </a:prstGeom>
          <a:solidFill>
            <a:srgbClr val="F1EFE8"/>
          </a:solidFill>
          <a:ln w="1270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Set thresholds</a:t>
            </a:r>
          </a:p>
          <a:p>
            <a:pPr algn="ctr"/>
            <a:r>
              <a:rPr sz="900" b="0">
                <a:solidFill>
                  <a:srgbClr val="444441"/>
                </a:solidFill>
                <a:latin typeface="Calibri"/>
              </a:rPr>
              <a:t>View history logs</a:t>
            </a:r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>
            <a:off x="2125980" y="4382643"/>
            <a:ext cx="8061960" cy="12700"/>
          </a:xfrm>
          <a:prstGeom prst="curvedConnector3">
            <a:avLst/>
          </a:prstGeom>
          <a:ln w="9525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764024" y="4791684"/>
            <a:ext cx="2926080" cy="438912"/>
          </a:xfrm>
          <a:prstGeom prst="roundRect">
            <a:avLst>
              <a:gd name="adj" fmla="val 1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 dirty="0">
                <a:solidFill>
                  <a:srgbClr val="3C3489"/>
                </a:solidFill>
                <a:latin typeface="Calibri"/>
              </a:rPr>
              <a:t>Changes applied — portal updated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813AEE9-0DA2-E490-78E5-97CC155B6BB2}"/>
              </a:ext>
            </a:extLst>
          </p:cNvPr>
          <p:cNvCxnSpPr>
            <a:endCxn id="10" idx="0"/>
          </p:cNvCxnSpPr>
          <p:nvPr/>
        </p:nvCxnSpPr>
        <p:spPr>
          <a:xfrm>
            <a:off x="2112264" y="2515895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D57EF37-1129-687B-9C6E-4BD30D42608C}"/>
              </a:ext>
            </a:extLst>
          </p:cNvPr>
          <p:cNvCxnSpPr/>
          <p:nvPr/>
        </p:nvCxnSpPr>
        <p:spPr>
          <a:xfrm>
            <a:off x="4780788" y="2515895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6844BB6-E112-1CD9-B610-C2257A15E92D}"/>
              </a:ext>
            </a:extLst>
          </p:cNvPr>
          <p:cNvCxnSpPr/>
          <p:nvPr/>
        </p:nvCxnSpPr>
        <p:spPr>
          <a:xfrm>
            <a:off x="7415783" y="2515895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4C6B81-8120-DB1F-1A70-564AEEA792F4}"/>
              </a:ext>
            </a:extLst>
          </p:cNvPr>
          <p:cNvCxnSpPr/>
          <p:nvPr/>
        </p:nvCxnSpPr>
        <p:spPr>
          <a:xfrm>
            <a:off x="10067544" y="2532430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7E3BB9C-E89B-82A2-5C00-27677100AE3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89904" y="2084832"/>
            <a:ext cx="13716" cy="431062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4874A35-435C-992D-EB9D-36E4CFE6E139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6089904" y="1444752"/>
            <a:ext cx="0" cy="201168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466D06A-594B-A3B6-8184-AFEE2C64C3DF}"/>
              </a:ext>
            </a:extLst>
          </p:cNvPr>
          <p:cNvCxnSpPr/>
          <p:nvPr/>
        </p:nvCxnSpPr>
        <p:spPr>
          <a:xfrm>
            <a:off x="2125980" y="3248178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988FDF8-7A86-DC75-5A86-3FB488861FE6}"/>
              </a:ext>
            </a:extLst>
          </p:cNvPr>
          <p:cNvCxnSpPr/>
          <p:nvPr/>
        </p:nvCxnSpPr>
        <p:spPr>
          <a:xfrm>
            <a:off x="4780788" y="3248178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E9EDF4E-41F9-FD08-F04E-1FBD1292217D}"/>
              </a:ext>
            </a:extLst>
          </p:cNvPr>
          <p:cNvCxnSpPr/>
          <p:nvPr/>
        </p:nvCxnSpPr>
        <p:spPr>
          <a:xfrm>
            <a:off x="7429499" y="3274466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37CBC23-8260-DEE3-C3E0-D6C1D3BDE6B0}"/>
              </a:ext>
            </a:extLst>
          </p:cNvPr>
          <p:cNvCxnSpPr/>
          <p:nvPr/>
        </p:nvCxnSpPr>
        <p:spPr>
          <a:xfrm>
            <a:off x="10082784" y="3274466"/>
            <a:ext cx="0" cy="30906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5B773F7-8D75-B614-B33F-62FDB17F2C87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6227064" y="4382643"/>
            <a:ext cx="0" cy="40904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981ED8B-929D-6A9F-5A62-C62E292E9A3B}"/>
              </a:ext>
            </a:extLst>
          </p:cNvPr>
          <p:cNvCxnSpPr>
            <a:stCxn id="18" idx="2"/>
          </p:cNvCxnSpPr>
          <p:nvPr/>
        </p:nvCxnSpPr>
        <p:spPr>
          <a:xfrm>
            <a:off x="2125980" y="4083939"/>
            <a:ext cx="0" cy="2987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20821EA-5B55-B498-1EFA-A78FDB5DE0F0}"/>
              </a:ext>
            </a:extLst>
          </p:cNvPr>
          <p:cNvCxnSpPr/>
          <p:nvPr/>
        </p:nvCxnSpPr>
        <p:spPr>
          <a:xfrm>
            <a:off x="4832604" y="4083939"/>
            <a:ext cx="0" cy="2987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847AE2-F56C-7E3D-1D3D-565673ED63C1}"/>
              </a:ext>
            </a:extLst>
          </p:cNvPr>
          <p:cNvCxnSpPr/>
          <p:nvPr/>
        </p:nvCxnSpPr>
        <p:spPr>
          <a:xfrm>
            <a:off x="7490460" y="4083939"/>
            <a:ext cx="0" cy="2987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402C5F5-0DDF-6D84-73EB-49A9137FF870}"/>
              </a:ext>
            </a:extLst>
          </p:cNvPr>
          <p:cNvCxnSpPr/>
          <p:nvPr/>
        </p:nvCxnSpPr>
        <p:spPr>
          <a:xfrm>
            <a:off x="10187940" y="4083939"/>
            <a:ext cx="0" cy="2987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31">
            <a:extLst>
              <a:ext uri="{FF2B5EF4-FFF2-40B4-BE49-F238E27FC236}">
                <a16:creationId xmlns:a16="http://schemas.microsoft.com/office/drawing/2014/main" id="{BC9A554D-8E72-9B5A-7DA8-96BE973EF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94760" y="334037"/>
            <a:ext cx="12188825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14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BE6F8EF3-891A-5825-BDA8-61D2E2659807}"/>
              </a:ext>
            </a:extLst>
          </p:cNvPr>
          <p:cNvSpPr/>
          <p:nvPr/>
        </p:nvSpPr>
        <p:spPr>
          <a:xfrm>
            <a:off x="2595622" y="50350"/>
            <a:ext cx="6743945" cy="1761257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005172D-0367-2FBC-BD4A-5D2183D6995D}"/>
              </a:ext>
            </a:extLst>
          </p:cNvPr>
          <p:cNvSpPr/>
          <p:nvPr/>
        </p:nvSpPr>
        <p:spPr>
          <a:xfrm>
            <a:off x="2885094" y="550345"/>
            <a:ext cx="1691640" cy="1139687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78E0B158-E460-919B-F248-A5392FC58FCB}"/>
              </a:ext>
            </a:extLst>
          </p:cNvPr>
          <p:cNvSpPr/>
          <p:nvPr/>
        </p:nvSpPr>
        <p:spPr>
          <a:xfrm>
            <a:off x="4778143" y="550345"/>
            <a:ext cx="1691641" cy="1139687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4F4F93A7-4252-7C76-9B0D-BA3356BD192E}"/>
              </a:ext>
            </a:extLst>
          </p:cNvPr>
          <p:cNvSpPr/>
          <p:nvPr/>
        </p:nvSpPr>
        <p:spPr>
          <a:xfrm>
            <a:off x="6722966" y="546216"/>
            <a:ext cx="2319131" cy="1139687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73EDAA1-9BA8-DFAC-3491-26BB7075D556}"/>
              </a:ext>
            </a:extLst>
          </p:cNvPr>
          <p:cNvSpPr txBox="1"/>
          <p:nvPr/>
        </p:nvSpPr>
        <p:spPr>
          <a:xfrm>
            <a:off x="2785704" y="88191"/>
            <a:ext cx="250002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Presentation Layer</a:t>
            </a:r>
          </a:p>
          <a:p>
            <a:r>
              <a:rPr lang="en-IN" sz="900" dirty="0"/>
              <a:t>React 18. TypeScript. Vite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8D3FF36D-17A6-DEB5-C5C8-2FDD35296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97" y="591798"/>
            <a:ext cx="1189835" cy="1061387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9F550990-44E4-0E2B-6975-BF986A199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183" y="571965"/>
            <a:ext cx="1257559" cy="1088191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EC1A21C6-D2D4-5939-8826-F1EE7CDF8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461" y="591798"/>
            <a:ext cx="2067242" cy="1031544"/>
          </a:xfrm>
          <a:prstGeom prst="rect">
            <a:avLst/>
          </a:prstGeom>
        </p:spPr>
      </p:pic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ED49D5A8-B1E1-669F-43B2-ECD5C6BCB630}"/>
              </a:ext>
            </a:extLst>
          </p:cNvPr>
          <p:cNvSpPr/>
          <p:nvPr/>
        </p:nvSpPr>
        <p:spPr>
          <a:xfrm>
            <a:off x="805237" y="2569849"/>
            <a:ext cx="10486663" cy="2588054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DA52C70B-2CCC-4433-2A81-43C36068C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8905" y="5788199"/>
            <a:ext cx="5067739" cy="891617"/>
          </a:xfrm>
          <a:prstGeom prst="rect">
            <a:avLst/>
          </a:prstGeom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CAF582B0-97D6-31AD-CB45-63AC27FF4F8B}"/>
              </a:ext>
            </a:extLst>
          </p:cNvPr>
          <p:cNvSpPr/>
          <p:nvPr/>
        </p:nvSpPr>
        <p:spPr>
          <a:xfrm>
            <a:off x="3374818" y="5788199"/>
            <a:ext cx="5347503" cy="992107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9DA84A41-3494-8BEC-4674-6CECC74677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258" y="2682794"/>
            <a:ext cx="4999153" cy="1828958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E370B304-C1A4-FC9B-3FAC-9E7D10E093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775" y="4511752"/>
            <a:ext cx="5029636" cy="518205"/>
          </a:xfrm>
          <a:prstGeom prst="rect">
            <a:avLst/>
          </a:prstGeom>
        </p:spPr>
      </p:pic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C5F2EF94-F534-36B5-BED1-C0CF7E677233}"/>
              </a:ext>
            </a:extLst>
          </p:cNvPr>
          <p:cNvSpPr/>
          <p:nvPr/>
        </p:nvSpPr>
        <p:spPr>
          <a:xfrm>
            <a:off x="6469784" y="2682794"/>
            <a:ext cx="4533496" cy="2347163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F20F3C24-6897-9E64-DFC6-1BD5F9D93EFE}"/>
              </a:ext>
            </a:extLst>
          </p:cNvPr>
          <p:cNvSpPr/>
          <p:nvPr/>
        </p:nvSpPr>
        <p:spPr>
          <a:xfrm>
            <a:off x="6847461" y="3040380"/>
            <a:ext cx="1689183" cy="1394460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4AEA832-079A-6A56-1B1D-4009D1DF1B6F}"/>
              </a:ext>
            </a:extLst>
          </p:cNvPr>
          <p:cNvSpPr/>
          <p:nvPr/>
        </p:nvSpPr>
        <p:spPr>
          <a:xfrm>
            <a:off x="8813421" y="3040380"/>
            <a:ext cx="1689183" cy="1394460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13E8E90C-8281-647C-A082-EDB44C28F78D}"/>
              </a:ext>
            </a:extLst>
          </p:cNvPr>
          <p:cNvSpPr/>
          <p:nvPr/>
        </p:nvSpPr>
        <p:spPr>
          <a:xfrm>
            <a:off x="6957060" y="3858711"/>
            <a:ext cx="1459230" cy="320040"/>
          </a:xfrm>
          <a:prstGeom prst="round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accent6">
                    <a:lumMod val="75000"/>
                  </a:schemeClr>
                </a:solidFill>
              </a:rPr>
              <a:t>Chatbot svc . RAG pipeline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F7E8B375-7589-C762-0732-9584BF2F1964}"/>
              </a:ext>
            </a:extLst>
          </p:cNvPr>
          <p:cNvSpPr/>
          <p:nvPr/>
        </p:nvSpPr>
        <p:spPr>
          <a:xfrm>
            <a:off x="6957060" y="3394710"/>
            <a:ext cx="1459230" cy="320040"/>
          </a:xfrm>
          <a:prstGeom prst="round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accent6">
                    <a:lumMod val="75000"/>
                  </a:schemeClr>
                </a:solidFill>
              </a:rPr>
              <a:t>Chatbot svc . RAG pipeline</a:t>
            </a:r>
          </a:p>
        </p:txBody>
      </p:sp>
    </p:spTree>
    <p:extLst>
      <p:ext uri="{BB962C8B-B14F-4D97-AF65-F5344CB8AC3E}">
        <p14:creationId xmlns:p14="http://schemas.microsoft.com/office/powerpoint/2010/main" val="3243651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186</Words>
  <Application>Microsoft Office PowerPoint</Application>
  <PresentationFormat>Custom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Jahnvi Paliwal</cp:lastModifiedBy>
  <cp:revision>4</cp:revision>
  <dcterms:created xsi:type="dcterms:W3CDTF">2013-01-27T09:14:16Z</dcterms:created>
  <dcterms:modified xsi:type="dcterms:W3CDTF">2026-06-06T14:58:01Z</dcterms:modified>
  <cp:category/>
</cp:coreProperties>
</file>